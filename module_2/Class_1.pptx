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Lustria"/>
      <p:regular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EraDsp5V5bNfnbMySnibnml41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60F94C-9B29-41F9-B718-819D79A793DA}">
  <a:tblStyle styleId="{D160F94C-9B29-41F9-B718-819D79A793DA}" styleName="Table_0">
    <a:wholeTbl>
      <a:tcTxStyle b="off" i="off">
        <a:font>
          <a:latin typeface="Calisto MT"/>
          <a:ea typeface="Calisto MT"/>
          <a:cs typeface="Calisto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E8EA"/>
          </a:solidFill>
        </a:fill>
      </a:tcStyle>
    </a:wholeTbl>
    <a:band1H>
      <a:tcTxStyle/>
      <a:tcStyle>
        <a:fill>
          <a:solidFill>
            <a:srgbClr val="D4CED2"/>
          </a:solidFill>
        </a:fill>
      </a:tcStyle>
    </a:band1H>
    <a:band2H>
      <a:tcTxStyle/>
    </a:band2H>
    <a:band1V>
      <a:tcTxStyle/>
      <a:tcStyle>
        <a:fill>
          <a:solidFill>
            <a:srgbClr val="D4CED2"/>
          </a:solidFill>
        </a:fill>
      </a:tcStyle>
    </a:band1V>
    <a:band2V>
      <a:tcTxStyle/>
    </a:band2V>
    <a:lastCol>
      <a:tcTxStyle b="on" i="off">
        <a:font>
          <a:latin typeface="Calisto MT"/>
          <a:ea typeface="Calisto MT"/>
          <a:cs typeface="Calisto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sto MT"/>
          <a:ea typeface="Calisto MT"/>
          <a:cs typeface="Calisto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sto MT"/>
          <a:ea typeface="Calisto MT"/>
          <a:cs typeface="Calisto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sto MT"/>
          <a:ea typeface="Calisto MT"/>
          <a:cs typeface="Calisto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OpenSans-regular.fntdata"/><Relationship Id="rId27" Type="http://schemas.openxmlformats.org/officeDocument/2006/relationships/font" Target="fonts/Lustri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ctrTitle"/>
          </p:nvPr>
        </p:nvSpPr>
        <p:spPr>
          <a:xfrm>
            <a:off x="704088" y="889820"/>
            <a:ext cx="9989574" cy="3598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704088" y="4488426"/>
            <a:ext cx="6991776" cy="1302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4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715383" y="1709738"/>
            <a:ext cx="1063206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715383" y="4589463"/>
            <a:ext cx="1063206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704088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2" type="body"/>
          </p:nvPr>
        </p:nvSpPr>
        <p:spPr>
          <a:xfrm>
            <a:off x="6181344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704087" y="929147"/>
            <a:ext cx="10689336" cy="798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704088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704088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3" type="body"/>
          </p:nvPr>
        </p:nvSpPr>
        <p:spPr>
          <a:xfrm>
            <a:off x="6181344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4" type="body"/>
          </p:nvPr>
        </p:nvSpPr>
        <p:spPr>
          <a:xfrm>
            <a:off x="6181344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 txBox="1"/>
          <p:nvPr>
            <p:ph type="title"/>
          </p:nvPr>
        </p:nvSpPr>
        <p:spPr>
          <a:xfrm>
            <a:off x="704088" y="1069848"/>
            <a:ext cx="4093599" cy="1316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" type="body"/>
          </p:nvPr>
        </p:nvSpPr>
        <p:spPr>
          <a:xfrm>
            <a:off x="5183188" y="1069848"/>
            <a:ext cx="6172200" cy="4791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31"/>
          <p:cNvSpPr txBox="1"/>
          <p:nvPr>
            <p:ph idx="2" type="body"/>
          </p:nvPr>
        </p:nvSpPr>
        <p:spPr>
          <a:xfrm>
            <a:off x="704088" y="2551176"/>
            <a:ext cx="4093599" cy="3319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31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/>
          <p:nvPr>
            <p:ph type="title"/>
          </p:nvPr>
        </p:nvSpPr>
        <p:spPr>
          <a:xfrm>
            <a:off x="704088" y="1066800"/>
            <a:ext cx="4103431" cy="13175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/>
          <p:nvPr>
            <p:ph idx="2" type="pic"/>
          </p:nvPr>
        </p:nvSpPr>
        <p:spPr>
          <a:xfrm>
            <a:off x="5183188" y="1066800"/>
            <a:ext cx="6172200" cy="479425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2"/>
          <p:cNvSpPr txBox="1"/>
          <p:nvPr>
            <p:ph idx="1" type="body"/>
          </p:nvPr>
        </p:nvSpPr>
        <p:spPr>
          <a:xfrm>
            <a:off x="704088" y="2552700"/>
            <a:ext cx="4103431" cy="331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32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" type="body"/>
          </p:nvPr>
        </p:nvSpPr>
        <p:spPr>
          <a:xfrm rot="5400000">
            <a:off x="4176320" y="-1253693"/>
            <a:ext cx="3739896" cy="10691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4"/>
          <p:cNvSpPr txBox="1"/>
          <p:nvPr>
            <p:ph type="title"/>
          </p:nvPr>
        </p:nvSpPr>
        <p:spPr>
          <a:xfrm rot="5400000">
            <a:off x="7924366" y="2315931"/>
            <a:ext cx="4984956" cy="234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" type="body"/>
          </p:nvPr>
        </p:nvSpPr>
        <p:spPr>
          <a:xfrm rot="5400000">
            <a:off x="2513147" y="-746247"/>
            <a:ext cx="4984956" cy="8473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23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23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ed.nyu.edu/departments-institutes/population-health/divisions-sections-centers/epidemiology/sites/default/files/nyc-hanes-datasets-and-resources-data-documentation.pdf" TargetMode="External"/><Relationship Id="rId4" Type="http://schemas.openxmlformats.org/officeDocument/2006/relationships/hyperlink" Target="https://med.nyu.edu/departments-institutes/population-health/divisions-sections-centers/epidemiology/sites/default/files/nyc-hanes-datasets-and-resources-analytics-guidelines.pdf" TargetMode="External"/><Relationship Id="rId5" Type="http://schemas.openxmlformats.org/officeDocument/2006/relationships/hyperlink" Target="https://med.nyu.edu/departments-institutes/population-health/divisions-sections-centers/epidemiology/sites/default/files/nyc-hanes-datasets-and-resources-public-dataset-codebook.pdf" TargetMode="External"/><Relationship Id="rId6" Type="http://schemas.openxmlformats.org/officeDocument/2006/relationships/hyperlink" Target="https://med.nyu.edu/departments-institutes/population-health/divisions-sections-centers/epidemiology/sites/default/files/nyc-hanes-datasets-and-resources-training-part-ii-weighting-and-age-adjustment.pdf" TargetMode="External"/><Relationship Id="rId7" Type="http://schemas.openxmlformats.org/officeDocument/2006/relationships/hyperlink" Target="https://wwwn.cdc.gov/nchs/nhanes/continuousnhanes/questionnaires.aspx?BeginYear=2013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8170992" y="719453"/>
            <a:ext cx="3676397" cy="3070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 sz="4400"/>
              <a:t>MODULE-2: PREDICTIVE ANALYTICS</a:t>
            </a:r>
            <a:endParaRPr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8170994" y="4514097"/>
            <a:ext cx="3076126" cy="161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Ahmed Sabit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Department of Biostatistics, Johns Hopkins University</a:t>
            </a:r>
            <a:endParaRPr/>
          </a:p>
        </p:txBody>
      </p:sp>
      <p:pic>
        <p:nvPicPr>
          <p:cNvPr descr="Aesthetic liquid watercolor and ink" id="89" name="Google Shape;89;p1"/>
          <p:cNvPicPr preferRelativeResize="0"/>
          <p:nvPr/>
        </p:nvPicPr>
        <p:blipFill rotWithShape="1">
          <a:blip r:embed="rId3">
            <a:alphaModFix/>
          </a:blip>
          <a:srcRect b="8536" l="0" r="0" t="0"/>
          <a:stretch/>
        </p:blipFill>
        <p:spPr>
          <a:xfrm>
            <a:off x="396240" y="1360521"/>
            <a:ext cx="7548880" cy="4246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"/>
          <p:cNvCxnSpPr/>
          <p:nvPr/>
        </p:nvCxnSpPr>
        <p:spPr>
          <a:xfrm>
            <a:off x="8275769" y="4053540"/>
            <a:ext cx="9144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3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3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98" name="Google Shape;98;p3"/>
          <p:cNvSpPr txBox="1"/>
          <p:nvPr>
            <p:ph type="title"/>
          </p:nvPr>
        </p:nvSpPr>
        <p:spPr>
          <a:xfrm>
            <a:off x="800102" y="960594"/>
            <a:ext cx="5828114" cy="4936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Open Sans"/>
              <a:buNone/>
            </a:pPr>
            <a:r>
              <a:rPr lang="en-US" sz="4700"/>
              <a:t>ACKNOWLEDGEMENT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002185" y="1390650"/>
            <a:ext cx="3019423" cy="40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Part of the content has been adapted and modified from work by Dr. Arnold, Dr. Taub, and Dr. Rennie</a:t>
            </a:r>
            <a:endParaRPr/>
          </a:p>
        </p:txBody>
      </p:sp>
      <p:cxnSp>
        <p:nvCxnSpPr>
          <p:cNvPr id="100" name="Google Shape;100;p3"/>
          <p:cNvCxnSpPr/>
          <p:nvPr/>
        </p:nvCxnSpPr>
        <p:spPr>
          <a:xfrm rot="10800000">
            <a:off x="7315200" y="1733549"/>
            <a:ext cx="0" cy="3390901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Open Sans"/>
              <a:buNone/>
            </a:pPr>
            <a:r>
              <a:rPr b="1" lang="en-US">
                <a:solidFill>
                  <a:srgbClr val="C00000"/>
                </a:solidFill>
              </a:rPr>
              <a:t>INTRODUCTION</a:t>
            </a:r>
            <a:br>
              <a:rPr b="1" lang="en-US"/>
            </a:b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750367" y="2269496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64135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How is predictive analytics useful?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Mostly </a:t>
            </a:r>
            <a:r>
              <a:rPr i="1" lang="en-US" sz="2800"/>
              <a:t>supervised learning</a:t>
            </a:r>
            <a:r>
              <a:rPr lang="en-US" sz="2800"/>
              <a:t> (</a:t>
            </a:r>
            <a:r>
              <a:rPr i="1" lang="en-US" sz="2800"/>
              <a:t>regression</a:t>
            </a:r>
            <a:r>
              <a:rPr lang="en-US" sz="2800"/>
              <a:t> and </a:t>
            </a:r>
            <a:r>
              <a:rPr i="1" lang="en-US" sz="2800"/>
              <a:t>classification</a:t>
            </a:r>
            <a:r>
              <a:rPr lang="en-US" sz="2800"/>
              <a:t>), some </a:t>
            </a:r>
            <a:r>
              <a:rPr i="1" lang="en-US" sz="2800"/>
              <a:t>forecasting</a:t>
            </a:r>
            <a:r>
              <a:rPr lang="en-US" sz="2800"/>
              <a:t>.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A powerful tool to turn data into action.</a:t>
            </a:r>
            <a:endParaRPr/>
          </a:p>
          <a:p>
            <a:pPr indent="-64135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800"/>
              <a:t>Question: 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What’s the difference between a logistic regression model and the one we build for prediction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2" name="Google Shape;112;p5"/>
          <p:cNvSpPr txBox="1"/>
          <p:nvPr>
            <p:ph type="title"/>
          </p:nvPr>
        </p:nvSpPr>
        <p:spPr>
          <a:xfrm>
            <a:off x="704088" y="914400"/>
            <a:ext cx="5195889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DIFFERENT KINDS OF ANALYTICS</a:t>
            </a:r>
            <a:endParaRPr/>
          </a:p>
        </p:txBody>
      </p:sp>
      <p:cxnSp>
        <p:nvCxnSpPr>
          <p:cNvPr id="113" name="Google Shape;113;p5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704088" y="2231136"/>
            <a:ext cx="5195889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en-US"/>
              <a:t>Past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Descriptive Analytics</a:t>
            </a:r>
            <a:r>
              <a:rPr lang="en-US"/>
              <a:t>: what happened?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Diagnostic Analytics</a:t>
            </a:r>
            <a:r>
              <a:rPr lang="en-US"/>
              <a:t>: why did it happen?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en-US"/>
              <a:t>Future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Predictive Analytics</a:t>
            </a:r>
            <a:r>
              <a:rPr lang="en-US"/>
              <a:t>: what might happen in the future?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Prescriptive Analytics</a:t>
            </a:r>
            <a:r>
              <a:rPr lang="en-US"/>
              <a:t>: what should we do next?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We'll focus on predictive analytics here.</a:t>
            </a:r>
            <a:endParaRPr/>
          </a:p>
          <a:p>
            <a:pPr indent="-101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Magnifying glass showing decling performance" id="115" name="Google Shape;115;p5"/>
          <p:cNvPicPr preferRelativeResize="0"/>
          <p:nvPr/>
        </p:nvPicPr>
        <p:blipFill rotWithShape="1">
          <a:blip r:embed="rId3">
            <a:alphaModFix/>
          </a:blip>
          <a:srcRect b="-2" l="6632" r="37195" t="0"/>
          <a:stretch/>
        </p:blipFill>
        <p:spPr>
          <a:xfrm>
            <a:off x="6420752" y="-1"/>
            <a:ext cx="577124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1" name="Google Shape;121;p6"/>
          <p:cNvSpPr txBox="1"/>
          <p:nvPr>
            <p:ph type="title"/>
          </p:nvPr>
        </p:nvSpPr>
        <p:spPr>
          <a:xfrm>
            <a:off x="700087" y="909638"/>
            <a:ext cx="10691813" cy="1155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THE HYPERTENSION EXAMPLE</a:t>
            </a:r>
            <a:endParaRPr/>
          </a:p>
        </p:txBody>
      </p:sp>
      <p:cxnSp>
        <p:nvCxnSpPr>
          <p:cNvPr id="122" name="Google Shape;122;p6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6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4" name="Google Shape;124;p6"/>
          <p:cNvGrpSpPr/>
          <p:nvPr/>
        </p:nvGrpSpPr>
        <p:grpSpPr>
          <a:xfrm>
            <a:off x="703220" y="3264445"/>
            <a:ext cx="10685546" cy="1656259"/>
            <a:chOff x="3132" y="1041945"/>
            <a:chExt cx="10685546" cy="1656259"/>
          </a:xfrm>
        </p:grpSpPr>
        <p:sp>
          <p:nvSpPr>
            <p:cNvPr id="125" name="Google Shape;125;p6"/>
            <p:cNvSpPr/>
            <p:nvPr/>
          </p:nvSpPr>
          <p:spPr>
            <a:xfrm>
              <a:off x="3132" y="1041945"/>
              <a:ext cx="2236509" cy="1420183"/>
            </a:xfrm>
            <a:prstGeom prst="roundRect">
              <a:avLst>
                <a:gd fmla="val 10000" name="adj"/>
              </a:avLst>
            </a:prstGeom>
            <a:solidFill>
              <a:srgbClr val="734A6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251633" y="1278021"/>
              <a:ext cx="2236509" cy="142018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734A6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6"/>
            <p:cNvSpPr txBox="1"/>
            <p:nvPr/>
          </p:nvSpPr>
          <p:spPr>
            <a:xfrm>
              <a:off x="293229" y="1319617"/>
              <a:ext cx="2153317" cy="1336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Lustria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Descriptive: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"25% of our patients have hypertension."</a:t>
              </a: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2736644" y="1041945"/>
              <a:ext cx="2236509" cy="1420183"/>
            </a:xfrm>
            <a:prstGeom prst="roundRect">
              <a:avLst>
                <a:gd fmla="val 10000" name="adj"/>
              </a:avLst>
            </a:prstGeom>
            <a:solidFill>
              <a:srgbClr val="734A6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2985145" y="1278021"/>
              <a:ext cx="2236509" cy="142018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734A6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 txBox="1"/>
            <p:nvPr/>
          </p:nvSpPr>
          <p:spPr>
            <a:xfrm>
              <a:off x="3026741" y="1319617"/>
              <a:ext cx="2153317" cy="1336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Lustria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Diagnostic: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"Hypertension is 3x higher in patients with high salt intake."</a:t>
              </a: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5470156" y="1041945"/>
              <a:ext cx="2236509" cy="1420183"/>
            </a:xfrm>
            <a:prstGeom prst="roundRect">
              <a:avLst>
                <a:gd fmla="val 10000" name="adj"/>
              </a:avLst>
            </a:prstGeom>
            <a:solidFill>
              <a:srgbClr val="734A6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5718657" y="1278021"/>
              <a:ext cx="2236509" cy="142018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734A6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6"/>
            <p:cNvSpPr txBox="1"/>
            <p:nvPr/>
          </p:nvSpPr>
          <p:spPr>
            <a:xfrm>
              <a:off x="5760253" y="1319617"/>
              <a:ext cx="2153317" cy="1336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Lustria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Predictive: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"Based on Patient X’s current diet and BMI, there is an </a:t>
              </a:r>
              <a:r>
                <a:rPr b="1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80% chance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they will develop hypertension in 2 years."</a:t>
              </a: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8203668" y="1041945"/>
              <a:ext cx="2236509" cy="1420183"/>
            </a:xfrm>
            <a:prstGeom prst="roundRect">
              <a:avLst>
                <a:gd fmla="val 10000" name="adj"/>
              </a:avLst>
            </a:prstGeom>
            <a:solidFill>
              <a:srgbClr val="734A6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8452169" y="1278021"/>
              <a:ext cx="2236509" cy="142018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734A6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8493765" y="1319617"/>
              <a:ext cx="2153317" cy="1336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Lustria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Prescriptive: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"To reduce Patient X's risk from 80% to 20%, the system recommends a </a:t>
              </a:r>
              <a:r>
                <a:rPr b="1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1,500mg daily sodium limit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and </a:t>
              </a:r>
              <a:r>
                <a:rPr b="1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30 minutes of cardio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5 days a week."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POWER OF PREDICTIVE MODELING</a:t>
            </a:r>
            <a:endParaRPr/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Medicine</a:t>
            </a:r>
            <a:r>
              <a:rPr lang="en-US"/>
              <a:t>: wearable monitor for seizures or falls, detect malaria from blood smears, find effective drug regimens from medical records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Drug Discovery</a:t>
            </a:r>
            <a:r>
              <a:rPr lang="en-US"/>
              <a:t>: predict the efficacy of a synthesis plan for a drug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Precision Agriculture</a:t>
            </a:r>
            <a:r>
              <a:rPr lang="en-US"/>
              <a:t>: predict effect of micro-climate on plant growth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Urban Planning</a:t>
            </a:r>
            <a:r>
              <a:rPr lang="en-US"/>
              <a:t>: forecast resource needs, extreme weather risks, ...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Government</a:t>
            </a:r>
            <a:r>
              <a:rPr lang="en-US"/>
              <a:t>: classify feedback from constituents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Retail</a:t>
            </a:r>
            <a:r>
              <a:rPr lang="en-US"/>
              <a:t>: predict items in a grocery order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Recommendation systems</a:t>
            </a:r>
            <a:r>
              <a:rPr lang="en-US"/>
              <a:t>: Amazon, Netflix, YouTube, ...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User interfaces</a:t>
            </a:r>
            <a:r>
              <a:rPr lang="en-US"/>
              <a:t>: gesture typing, autocomplete / autocorrect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and so much more...</a:t>
            </a:r>
            <a:endParaRPr/>
          </a:p>
          <a:p>
            <a:pPr indent="-111125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48" name="Google Shape;148;p8"/>
          <p:cNvSpPr txBox="1"/>
          <p:nvPr>
            <p:ph type="title"/>
          </p:nvPr>
        </p:nvSpPr>
        <p:spPr>
          <a:xfrm>
            <a:off x="6284749" y="909638"/>
            <a:ext cx="5201121" cy="131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THE QUESTION</a:t>
            </a:r>
            <a:endParaRPr/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28484" r="24873" t="0"/>
          <a:stretch/>
        </p:blipFill>
        <p:spPr>
          <a:xfrm>
            <a:off x="20" y="10"/>
            <a:ext cx="5686740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8"/>
          <p:cNvCxnSpPr/>
          <p:nvPr/>
        </p:nvCxnSpPr>
        <p:spPr>
          <a:xfrm>
            <a:off x="6422739" y="722376"/>
            <a:ext cx="16002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6290838" y="2236843"/>
            <a:ext cx="5201121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Where does the logistic regression model we learned in module-1 fits in? </a:t>
            </a:r>
            <a:endParaRPr/>
          </a:p>
          <a:p>
            <a:pPr indent="0" lvl="1" marL="457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7" name="Google Shape;157;p9"/>
          <p:cNvSpPr txBox="1"/>
          <p:nvPr>
            <p:ph type="title"/>
          </p:nvPr>
        </p:nvSpPr>
        <p:spPr>
          <a:xfrm>
            <a:off x="6696186" y="909637"/>
            <a:ext cx="480060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THE QUESTION</a:t>
            </a:r>
            <a:endParaRPr/>
          </a:p>
        </p:txBody>
      </p:sp>
      <p:pic>
        <p:nvPicPr>
          <p:cNvPr descr="Yellow question mark"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41035" r="6086" t="0"/>
          <a:stretch/>
        </p:blipFill>
        <p:spPr>
          <a:xfrm>
            <a:off x="20" y="10"/>
            <a:ext cx="6044164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9"/>
          <p:cNvCxnSpPr/>
          <p:nvPr/>
        </p:nvCxnSpPr>
        <p:spPr>
          <a:xfrm>
            <a:off x="6781300" y="723900"/>
            <a:ext cx="4610075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6696186" y="2221992"/>
            <a:ext cx="4800600" cy="37398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318" r="0" t="-67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 </a:t>
            </a:r>
            <a:endParaRPr/>
          </a:p>
        </p:txBody>
      </p:sp>
      <p:cxnSp>
        <p:nvCxnSpPr>
          <p:cNvPr id="161" name="Google Shape;161;p9"/>
          <p:cNvCxnSpPr/>
          <p:nvPr/>
        </p:nvCxnSpPr>
        <p:spPr>
          <a:xfrm>
            <a:off x="6781300" y="6142781"/>
            <a:ext cx="461007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7" name="Google Shape;167;p10"/>
          <p:cNvSpPr txBox="1"/>
          <p:nvPr>
            <p:ph type="title"/>
          </p:nvPr>
        </p:nvSpPr>
        <p:spPr>
          <a:xfrm>
            <a:off x="704088" y="914400"/>
            <a:ext cx="5195889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THE QUESTION</a:t>
            </a:r>
            <a:endParaRPr/>
          </a:p>
        </p:txBody>
      </p:sp>
      <p:cxnSp>
        <p:nvCxnSpPr>
          <p:cNvPr id="168" name="Google Shape;168;p10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10"/>
          <p:cNvSpPr txBox="1"/>
          <p:nvPr>
            <p:ph idx="1" type="body"/>
          </p:nvPr>
        </p:nvSpPr>
        <p:spPr>
          <a:xfrm>
            <a:off x="704088" y="2231136"/>
            <a:ext cx="5195889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2. Predictive Analytics (The "What will happen")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When you use a trained logistic regression model to </a:t>
            </a:r>
            <a:r>
              <a:rPr b="1" lang="en-US" sz="1600"/>
              <a:t>classify new data</a:t>
            </a:r>
            <a:r>
              <a:rPr lang="en-US" sz="1600"/>
              <a:t>, you are doing predictive analytics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Focus:</a:t>
            </a:r>
            <a:r>
              <a:rPr lang="en-US" sz="1600"/>
              <a:t> You look at the "Probability Score" (e.g., a 78% chance of hypertension) and model accuracy.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Hypertension Example:</a:t>
            </a:r>
            <a:r>
              <a:rPr lang="en-US" sz="1600"/>
              <a:t> You input a new patient’s BMI and Age, and the model predicts whether they will develop hypertension in the future.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The Goal:</a:t>
            </a:r>
            <a:r>
              <a:rPr lang="en-US" sz="1600"/>
              <a:t> To forecast an outcome for unseen instances.</a:t>
            </a:r>
            <a:endParaRPr/>
          </a:p>
        </p:txBody>
      </p:sp>
      <p:pic>
        <p:nvPicPr>
          <p:cNvPr descr="Magnifying glass showing decling performance" id="170" name="Google Shape;170;p10"/>
          <p:cNvPicPr preferRelativeResize="0"/>
          <p:nvPr/>
        </p:nvPicPr>
        <p:blipFill rotWithShape="1">
          <a:blip r:embed="rId3">
            <a:alphaModFix/>
          </a:blip>
          <a:srcRect b="-2" l="6632" r="37195" t="0"/>
          <a:stretch/>
        </p:blipFill>
        <p:spPr>
          <a:xfrm>
            <a:off x="6420752" y="-1"/>
            <a:ext cx="577124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76" name="Google Shape;176;p11"/>
          <p:cNvSpPr txBox="1"/>
          <p:nvPr>
            <p:ph type="title"/>
          </p:nvPr>
        </p:nvSpPr>
        <p:spPr>
          <a:xfrm>
            <a:off x="704088" y="914400"/>
            <a:ext cx="5195889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MOTIVATING PUBLIC HEALTH PROBLEM</a:t>
            </a:r>
            <a:endParaRPr/>
          </a:p>
        </p:txBody>
      </p:sp>
      <p:cxnSp>
        <p:nvCxnSpPr>
          <p:cNvPr id="177" name="Google Shape;177;p11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11"/>
          <p:cNvSpPr txBox="1"/>
          <p:nvPr>
            <p:ph idx="1" type="body"/>
          </p:nvPr>
        </p:nvSpPr>
        <p:spPr>
          <a:xfrm>
            <a:off x="704088" y="2231136"/>
            <a:ext cx="5195889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Hypertension is one of the most common diseases in the world.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Around 75 million American adults (32%) are estimated to have high blood pressure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It costs the US around $48.6 billion each year.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In this module, we will explore the relationship between hypertension and a variety of risk factors.</a:t>
            </a:r>
            <a:endParaRPr/>
          </a:p>
          <a:p>
            <a:pPr indent="-101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Stethoscope" id="179" name="Google Shape;179;p11"/>
          <p:cNvPicPr preferRelativeResize="0"/>
          <p:nvPr/>
        </p:nvPicPr>
        <p:blipFill rotWithShape="1">
          <a:blip r:embed="rId3">
            <a:alphaModFix/>
          </a:blip>
          <a:srcRect b="-2" l="24677" r="19148" t="0"/>
          <a:stretch/>
        </p:blipFill>
        <p:spPr>
          <a:xfrm>
            <a:off x="6420752" y="-1"/>
            <a:ext cx="577124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THE DATA</a:t>
            </a:r>
            <a:endParaRPr b="1"/>
          </a:p>
        </p:txBody>
      </p:sp>
      <p:grpSp>
        <p:nvGrpSpPr>
          <p:cNvPr id="185" name="Google Shape;185;p12"/>
          <p:cNvGrpSpPr/>
          <p:nvPr/>
        </p:nvGrpSpPr>
        <p:grpSpPr>
          <a:xfrm>
            <a:off x="700635" y="2223544"/>
            <a:ext cx="10691265" cy="3736790"/>
            <a:chOff x="0" y="1552"/>
            <a:chExt cx="10691265" cy="3736790"/>
          </a:xfrm>
        </p:grpSpPr>
        <p:sp>
          <p:nvSpPr>
            <p:cNvPr id="186" name="Google Shape;186;p12"/>
            <p:cNvSpPr/>
            <p:nvPr/>
          </p:nvSpPr>
          <p:spPr>
            <a:xfrm>
              <a:off x="0" y="1552"/>
              <a:ext cx="10691265" cy="786692"/>
            </a:xfrm>
            <a:prstGeom prst="roundRect">
              <a:avLst>
                <a:gd fmla="val 10000" name="adj"/>
              </a:avLst>
            </a:prstGeom>
            <a:solidFill>
              <a:srgbClr val="D4CE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237974" y="178558"/>
              <a:ext cx="432681" cy="43268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908630" y="1552"/>
              <a:ext cx="9782634" cy="786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2"/>
            <p:cNvSpPr txBox="1"/>
            <p:nvPr/>
          </p:nvSpPr>
          <p:spPr>
            <a:xfrm>
              <a:off x="908630" y="1552"/>
              <a:ext cx="9782634" cy="786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250" lIns="83250" spcFirstLastPara="1" rIns="83250" wrap="square" tIns="83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NYC HANES</a:t>
              </a:r>
              <a:endParaRPr/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0" y="984918"/>
              <a:ext cx="10691265" cy="786692"/>
            </a:xfrm>
            <a:prstGeom prst="roundRect">
              <a:avLst>
                <a:gd fmla="val 10000" name="adj"/>
              </a:avLst>
            </a:prstGeom>
            <a:solidFill>
              <a:srgbClr val="D4CE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237974" y="1161924"/>
              <a:ext cx="432681" cy="43268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908630" y="984918"/>
              <a:ext cx="9782634" cy="786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2"/>
            <p:cNvSpPr txBox="1"/>
            <p:nvPr/>
          </p:nvSpPr>
          <p:spPr>
            <a:xfrm>
              <a:off x="908630" y="984918"/>
              <a:ext cx="9782634" cy="786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250" lIns="83250" spcFirstLastPara="1" rIns="83250" wrap="square" tIns="83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NHANES is a population-based, cross-sectional study with data collected from a physical examination and laboratory tests, as well as a face-to-face interview and an audio computer-assisted self-interview (ACASI).</a:t>
              </a:r>
              <a:endParaRPr/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0" y="1968284"/>
              <a:ext cx="10691265" cy="786692"/>
            </a:xfrm>
            <a:prstGeom prst="roundRect">
              <a:avLst>
                <a:gd fmla="val 10000" name="adj"/>
              </a:avLst>
            </a:prstGeom>
            <a:solidFill>
              <a:srgbClr val="D4CE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237974" y="2145290"/>
              <a:ext cx="432681" cy="43268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908630" y="1968284"/>
              <a:ext cx="9782634" cy="786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2"/>
            <p:cNvSpPr txBox="1"/>
            <p:nvPr/>
          </p:nvSpPr>
          <p:spPr>
            <a:xfrm>
              <a:off x="908630" y="1968284"/>
              <a:ext cx="9782634" cy="786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250" lIns="83250" spcFirstLastPara="1" rIns="83250" wrap="square" tIns="83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It is designed to assess the health and nutritional status of adults and children in the United States. </a:t>
              </a: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0" y="2951650"/>
              <a:ext cx="10691265" cy="786692"/>
            </a:xfrm>
            <a:prstGeom prst="roundRect">
              <a:avLst>
                <a:gd fmla="val 10000" name="adj"/>
              </a:avLst>
            </a:prstGeom>
            <a:solidFill>
              <a:srgbClr val="D4CE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237974" y="3128656"/>
              <a:ext cx="432681" cy="43268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908630" y="2951650"/>
              <a:ext cx="9782634" cy="786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2"/>
            <p:cNvSpPr txBox="1"/>
            <p:nvPr/>
          </p:nvSpPr>
          <p:spPr>
            <a:xfrm>
              <a:off x="908630" y="2951650"/>
              <a:ext cx="9782634" cy="786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250" lIns="83250" spcFirstLastPara="1" rIns="83250" wrap="square" tIns="83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NYC HANES is a local version of NHANES, which implies it mainly focuses on the New York area.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THE DATA</a:t>
            </a:r>
            <a:endParaRPr/>
          </a:p>
        </p:txBody>
      </p:sp>
      <p:grpSp>
        <p:nvGrpSpPr>
          <p:cNvPr id="207" name="Google Shape;207;p13"/>
          <p:cNvGrpSpPr/>
          <p:nvPr/>
        </p:nvGrpSpPr>
        <p:grpSpPr>
          <a:xfrm>
            <a:off x="700635" y="2272814"/>
            <a:ext cx="10691265" cy="3638251"/>
            <a:chOff x="0" y="50822"/>
            <a:chExt cx="10691265" cy="3638251"/>
          </a:xfrm>
        </p:grpSpPr>
        <p:sp>
          <p:nvSpPr>
            <p:cNvPr id="208" name="Google Shape;208;p13"/>
            <p:cNvSpPr/>
            <p:nvPr/>
          </p:nvSpPr>
          <p:spPr>
            <a:xfrm>
              <a:off x="0" y="50822"/>
              <a:ext cx="10691265" cy="570375"/>
            </a:xfrm>
            <a:prstGeom prst="roundRect">
              <a:avLst>
                <a:gd fmla="val 16667" name="adj"/>
              </a:avLst>
            </a:prstGeom>
            <a:solidFill>
              <a:srgbClr val="734A6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3"/>
            <p:cNvSpPr txBox="1"/>
            <p:nvPr/>
          </p:nvSpPr>
          <p:spPr>
            <a:xfrm>
              <a:off x="27843" y="78665"/>
              <a:ext cx="10635579" cy="514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Lustria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Links to some useful resources available on the website including:</a:t>
              </a: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0" y="664397"/>
              <a:ext cx="10691265" cy="570375"/>
            </a:xfrm>
            <a:prstGeom prst="roundRect">
              <a:avLst>
                <a:gd fmla="val 16667" name="adj"/>
              </a:avLst>
            </a:prstGeom>
            <a:solidFill>
              <a:srgbClr val="734A6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 txBox="1"/>
            <p:nvPr/>
          </p:nvSpPr>
          <p:spPr>
            <a:xfrm>
              <a:off x="27843" y="692240"/>
              <a:ext cx="10635579" cy="514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Lustria"/>
                <a:buNone/>
              </a:pPr>
              <a:r>
                <a:rPr b="0" i="0" lang="en-US" sz="1500" u="sng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Data Documents</a:t>
              </a:r>
              <a:r>
                <a:rPr b="0" i="0" lang="en-US" sz="15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: Provides information on how best to analyze the NYC HANES 2013-14 dataset, given its population-based and clustered sampling scheme.</a:t>
              </a: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0" y="1277972"/>
              <a:ext cx="10691265" cy="570375"/>
            </a:xfrm>
            <a:prstGeom prst="roundRect">
              <a:avLst>
                <a:gd fmla="val 16667" name="adj"/>
              </a:avLst>
            </a:prstGeom>
            <a:solidFill>
              <a:srgbClr val="734A6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3"/>
            <p:cNvSpPr txBox="1"/>
            <p:nvPr/>
          </p:nvSpPr>
          <p:spPr>
            <a:xfrm>
              <a:off x="27843" y="1305815"/>
              <a:ext cx="10635579" cy="514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Lustria"/>
                <a:buNone/>
              </a:pPr>
              <a:r>
                <a:rPr b="0" i="0" lang="en-US" sz="1500" u="sng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Analytics Guideline</a:t>
              </a:r>
              <a:r>
                <a:rPr b="0" i="0" lang="en-US" sz="15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: Provides overall guidance on the use of the NYC HANES 2013-14 dataset and statistical weights, as well as other analytic issues pertaining to assessing statistical reliability of estimates.</a:t>
              </a: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0" y="1891548"/>
              <a:ext cx="10691265" cy="570375"/>
            </a:xfrm>
            <a:prstGeom prst="roundRect">
              <a:avLst>
                <a:gd fmla="val 16667" name="adj"/>
              </a:avLst>
            </a:prstGeom>
            <a:solidFill>
              <a:srgbClr val="734A6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3"/>
            <p:cNvSpPr txBox="1"/>
            <p:nvPr/>
          </p:nvSpPr>
          <p:spPr>
            <a:xfrm>
              <a:off x="27843" y="1919391"/>
              <a:ext cx="10635579" cy="514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Lustria"/>
                <a:buNone/>
              </a:pPr>
              <a:r>
                <a:rPr b="0" i="0" lang="en-US" sz="1500" u="sng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Variable Codebook</a:t>
              </a:r>
              <a:r>
                <a:rPr b="0" i="0" lang="en-US" sz="15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: Defines the variables included in the dataset and describes how values for these variables are coded.</a:t>
              </a: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0" y="2505123"/>
              <a:ext cx="10691265" cy="570375"/>
            </a:xfrm>
            <a:prstGeom prst="roundRect">
              <a:avLst>
                <a:gd fmla="val 16667" name="adj"/>
              </a:avLst>
            </a:prstGeom>
            <a:solidFill>
              <a:srgbClr val="734A6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3"/>
            <p:cNvSpPr txBox="1"/>
            <p:nvPr/>
          </p:nvSpPr>
          <p:spPr>
            <a:xfrm>
              <a:off x="27843" y="2532966"/>
              <a:ext cx="10635579" cy="514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Lustria"/>
                <a:buNone/>
              </a:pPr>
              <a:r>
                <a:rPr b="0" i="0" lang="en-US" sz="1500" u="sng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Weight Adjustment</a:t>
              </a:r>
              <a:r>
                <a:rPr b="0" i="0" lang="en-US" sz="15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: Explains how NYC HANES data are weighted in order to compensate for unequal probability of selection and explains how to choose the correct weight for analysis.</a:t>
              </a: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0" y="3118698"/>
              <a:ext cx="10691265" cy="570375"/>
            </a:xfrm>
            <a:prstGeom prst="roundRect">
              <a:avLst>
                <a:gd fmla="val 16667" name="adj"/>
              </a:avLst>
            </a:prstGeom>
            <a:solidFill>
              <a:srgbClr val="734A6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3"/>
            <p:cNvSpPr txBox="1"/>
            <p:nvPr/>
          </p:nvSpPr>
          <p:spPr>
            <a:xfrm>
              <a:off x="27843" y="3146541"/>
              <a:ext cx="10635579" cy="514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Lustria"/>
                <a:buNone/>
              </a:pPr>
              <a:r>
                <a:rPr b="0" i="0" lang="en-US" sz="1500" u="sng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Questionnaire</a:t>
              </a:r>
              <a:r>
                <a:rPr b="0" i="0" lang="en-US" sz="15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: Provides links to the questionnaires that participants in the study completed. Answers from different questionnaires are combined in the data set you will be working with.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THE DATA</a:t>
            </a:r>
            <a:endParaRPr b="1"/>
          </a:p>
        </p:txBody>
      </p:sp>
      <p:pic>
        <p:nvPicPr>
          <p:cNvPr descr="A white background with black text&#10;&#10;AI-generated content may be incorrect." id="225" name="Google Shape;225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96" y="2832410"/>
            <a:ext cx="11237652" cy="257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/>
          <p:nvPr>
            <p:ph type="title"/>
          </p:nvPr>
        </p:nvSpPr>
        <p:spPr>
          <a:xfrm>
            <a:off x="600274" y="779359"/>
            <a:ext cx="10691265" cy="802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CATEGORICAL VARIABLES</a:t>
            </a:r>
            <a:endParaRPr/>
          </a:p>
        </p:txBody>
      </p:sp>
      <p:graphicFrame>
        <p:nvGraphicFramePr>
          <p:cNvPr id="231" name="Google Shape;231;p15"/>
          <p:cNvGraphicFramePr/>
          <p:nvPr/>
        </p:nvGraphicFramePr>
        <p:xfrm>
          <a:off x="724829" y="15822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{D160F94C-9B29-41F9-B718-819D79A793DA}</a:tableStyleId>
              </a:tblPr>
              <a:tblGrid>
                <a:gridCol w="2216225"/>
                <a:gridCol w="3270175"/>
                <a:gridCol w="2007225"/>
                <a:gridCol w="2330600"/>
              </a:tblGrid>
              <a:tr h="14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Gender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1:</a:t>
                      </a:r>
                      <a:r>
                        <a:rPr lang="en-US" sz="1800"/>
                        <a:t> Male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2:</a:t>
                      </a:r>
                      <a:r>
                        <a:rPr lang="en-US" sz="1800"/>
                        <a:t> Female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Diet (Self-Reported)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1:</a:t>
                      </a:r>
                      <a:r>
                        <a:rPr lang="en-US" sz="1800"/>
                        <a:t> Excellent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2:</a:t>
                      </a:r>
                      <a:r>
                        <a:rPr lang="en-US" sz="1800"/>
                        <a:t> Very good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3:</a:t>
                      </a:r>
                      <a:r>
                        <a:rPr lang="en-US" sz="1800"/>
                        <a:t> Good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4:</a:t>
                      </a:r>
                      <a:r>
                        <a:rPr lang="en-US" sz="1800"/>
                        <a:t> Fair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5:</a:t>
                      </a:r>
                      <a:r>
                        <a:rPr lang="en-US" sz="1800"/>
                        <a:t> Poor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Born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1:</a:t>
                      </a:r>
                      <a:r>
                        <a:rPr lang="en-US" sz="1800"/>
                        <a:t> US born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2:</a:t>
                      </a:r>
                      <a:r>
                        <a:rPr lang="en-US" sz="1800"/>
                        <a:t> Other country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Diabetes (Medical History)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1:</a:t>
                      </a:r>
                      <a:r>
                        <a:rPr lang="en-US" sz="1800"/>
                        <a:t> Yes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2:</a:t>
                      </a:r>
                      <a:r>
                        <a:rPr lang="en-US" sz="1800"/>
                        <a:t> No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3:</a:t>
                      </a:r>
                      <a:r>
                        <a:rPr lang="en-US" sz="1800"/>
                        <a:t> Prediabetes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16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100:</a:t>
                      </a:r>
                      <a:r>
                        <a:rPr lang="en-US" sz="1800"/>
                        <a:t> White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110:</a:t>
                      </a:r>
                      <a:r>
                        <a:rPr lang="en-US" sz="1800"/>
                        <a:t> Black/African American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120:</a:t>
                      </a:r>
                      <a:r>
                        <a:rPr lang="en-US" sz="1800"/>
                        <a:t> Indian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140:</a:t>
                      </a:r>
                      <a:r>
                        <a:rPr lang="en-US" sz="1800"/>
                        <a:t> Native Hawaiian/Other Pacific Islander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180:</a:t>
                      </a:r>
                      <a:r>
                        <a:rPr lang="en-US" sz="1800"/>
                        <a:t> Asian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250:</a:t>
                      </a:r>
                      <a:r>
                        <a:rPr lang="en-US" sz="1800"/>
                        <a:t> Other race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Cholesterol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</a:t>
                      </a:r>
                      <a:r>
                        <a:rPr lang="en-US" sz="1800"/>
                        <a:t> = Yes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r>
                        <a:rPr lang="en-US" sz="1800"/>
                        <a:t> = No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/>
          <p:nvPr>
            <p:ph type="title"/>
          </p:nvPr>
        </p:nvSpPr>
        <p:spPr>
          <a:xfrm>
            <a:off x="700634" y="680224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CATEGORICAL VARIABLES</a:t>
            </a:r>
            <a:endParaRPr/>
          </a:p>
        </p:txBody>
      </p:sp>
      <p:graphicFrame>
        <p:nvGraphicFramePr>
          <p:cNvPr id="237" name="Google Shape;237;p16"/>
          <p:cNvGraphicFramePr/>
          <p:nvPr/>
        </p:nvGraphicFramePr>
        <p:xfrm>
          <a:off x="700088" y="2222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{D160F94C-9B29-41F9-B718-819D79A793DA}</a:tableStyleId>
              </a:tblPr>
              <a:tblGrid>
                <a:gridCol w="2672950"/>
                <a:gridCol w="2672950"/>
                <a:gridCol w="2672950"/>
                <a:gridCol w="26729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Smoke:</a:t>
                      </a:r>
                      <a:r>
                        <a:rPr lang="en-US" sz="1800"/>
                        <a:t> Smoking status history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1= Never smoker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r>
                        <a:rPr lang="en-US" sz="1800"/>
                        <a:t> = Current smoker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</a:t>
                      </a:r>
                      <a:r>
                        <a:rPr lang="en-US" sz="1800"/>
                        <a:t> = Former smoker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Socioeconomic Status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</a:t>
                      </a:r>
                      <a:r>
                        <a:rPr lang="en-US" sz="1800"/>
                        <a:t> = Less than $20,000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r>
                        <a:rPr lang="en-US" sz="1800"/>
                        <a:t> = $20,000 – $39,999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</a:t>
                      </a:r>
                      <a:r>
                        <a:rPr lang="en-US" sz="1800"/>
                        <a:t> = $40,000 – $59,999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4</a:t>
                      </a:r>
                      <a:r>
                        <a:rPr lang="en-US" sz="1800"/>
                        <a:t> = $60,000 – $79,999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5</a:t>
                      </a:r>
                      <a:r>
                        <a:rPr lang="en-US" sz="1800"/>
                        <a:t> = $80,000 – $99,999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6</a:t>
                      </a:r>
                      <a:r>
                        <a:rPr lang="en-US" sz="1800"/>
                        <a:t> = $100,000 or more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Drink unit:</a:t>
                      </a:r>
                      <a:r>
                        <a:rPr lang="en-US" sz="1800"/>
                        <a:t> Frequency unit for alcoholic beverage consumption in the past 12 months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</a:t>
                      </a:r>
                      <a:r>
                        <a:rPr lang="en-US" sz="1800"/>
                        <a:t> = per week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r>
                        <a:rPr lang="en-US" sz="1800"/>
                        <a:t> = per month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</a:t>
                      </a:r>
                      <a:r>
                        <a:rPr lang="en-US" sz="1800"/>
                        <a:t> = per year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Hypertension:</a:t>
                      </a:r>
                      <a:r>
                        <a:rPr lang="en-US" sz="1800"/>
                        <a:t> Has a doctor/health professional ever said they have hypertension or high blood pressure?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</a:t>
                      </a:r>
                      <a:r>
                        <a:rPr lang="en-US" sz="1800"/>
                        <a:t> = Yes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r>
                        <a:rPr lang="en-US" sz="1800"/>
                        <a:t> = No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3" name="Google Shape;243;p17"/>
          <p:cNvSpPr txBox="1"/>
          <p:nvPr>
            <p:ph type="title"/>
          </p:nvPr>
        </p:nvSpPr>
        <p:spPr>
          <a:xfrm>
            <a:off x="4866968" y="914400"/>
            <a:ext cx="6627924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PREDICTIVE MODELING WORKFLOW</a:t>
            </a:r>
            <a:endParaRPr/>
          </a:p>
        </p:txBody>
      </p:sp>
      <p:pic>
        <p:nvPicPr>
          <p:cNvPr descr="Financial graphs on a dark display" id="244" name="Google Shape;244;p17"/>
          <p:cNvPicPr preferRelativeResize="0"/>
          <p:nvPr/>
        </p:nvPicPr>
        <p:blipFill rotWithShape="1">
          <a:blip r:embed="rId3">
            <a:alphaModFix/>
          </a:blip>
          <a:srcRect b="1" l="27979" r="33788" t="0"/>
          <a:stretch/>
        </p:blipFill>
        <p:spPr>
          <a:xfrm>
            <a:off x="20" y="-17929"/>
            <a:ext cx="4206220" cy="68759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17"/>
          <p:cNvCxnSpPr/>
          <p:nvPr/>
        </p:nvCxnSpPr>
        <p:spPr>
          <a:xfrm>
            <a:off x="4917665" y="722376"/>
            <a:ext cx="6476356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6" name="Google Shape;246;p17"/>
          <p:cNvSpPr txBox="1"/>
          <p:nvPr>
            <p:ph idx="1" type="body"/>
          </p:nvPr>
        </p:nvSpPr>
        <p:spPr>
          <a:xfrm>
            <a:off x="4866968" y="2221992"/>
            <a:ext cx="6627924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Define the problem</a:t>
            </a:r>
            <a:r>
              <a:rPr lang="en-US" sz="1600"/>
              <a:t>: predict </a:t>
            </a:r>
            <a:r>
              <a:rPr i="1" lang="en-US" sz="1600"/>
              <a:t>what</a:t>
            </a:r>
            <a:r>
              <a:rPr lang="en-US" sz="1600"/>
              <a:t>, based on </a:t>
            </a:r>
            <a:r>
              <a:rPr i="1" lang="en-US" sz="1600"/>
              <a:t>what</a:t>
            </a:r>
            <a:r>
              <a:rPr lang="en-US" sz="1600"/>
              <a:t>? What </a:t>
            </a:r>
            <a:r>
              <a:rPr i="1" lang="en-US" sz="1600"/>
              <a:t>metrics</a:t>
            </a:r>
            <a:r>
              <a:rPr lang="en-US" sz="1600"/>
              <a:t> will indicate success? (Measure success in multiple ways!)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Explore your data</a:t>
            </a:r>
            <a:r>
              <a:rPr lang="en-US" sz="1600"/>
              <a:t> (EDA): understand its structure, make lots of plots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Pick a model</a:t>
            </a:r>
            <a:r>
              <a:rPr lang="en-US" sz="1600"/>
              <a:t>: Which type(s) of models are appropriate for task and data?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Transform the data</a:t>
            </a:r>
            <a:r>
              <a:rPr lang="en-US" sz="1600"/>
              <a:t> as needed by the model ("feature engineering", preprocessing", "recipe")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Split the data</a:t>
            </a:r>
            <a:r>
              <a:rPr lang="en-US" sz="1600"/>
              <a:t> to allow for validation.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Fit and evaluate the model</a:t>
            </a:r>
            <a:endParaRPr sz="1600"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Tune</a:t>
            </a:r>
            <a:r>
              <a:rPr lang="en-US" sz="1600"/>
              <a:t>: adjust model hyperparameters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Analyze model errors</a:t>
            </a:r>
            <a:r>
              <a:rPr lang="en-US" sz="1600"/>
              <a:t> and refine all earlier steps</a:t>
            </a:r>
            <a:endParaRPr/>
          </a:p>
          <a:p>
            <a:pPr indent="-1270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cxnSp>
        <p:nvCxnSpPr>
          <p:cNvPr id="247" name="Google Shape;247;p17"/>
          <p:cNvCxnSpPr/>
          <p:nvPr/>
        </p:nvCxnSpPr>
        <p:spPr>
          <a:xfrm>
            <a:off x="4917665" y="6144768"/>
            <a:ext cx="647635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/>
              <a:t>WHAT IS TIDYMODELS? </a:t>
            </a:r>
            <a:endParaRPr/>
          </a:p>
        </p:txBody>
      </p:sp>
      <p:pic>
        <p:nvPicPr>
          <p:cNvPr descr="A white background with black text&#10;&#10;AI-generated content may be incorrect." id="253" name="Google Shape;253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259" y="2101850"/>
            <a:ext cx="10639001" cy="38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/>
              <a:t>WHAT IS TIDYMODELS? </a:t>
            </a:r>
            <a:endParaRPr/>
          </a:p>
        </p:txBody>
      </p:sp>
      <p:pic>
        <p:nvPicPr>
          <p:cNvPr descr="A close-up of a white background&#10;&#10;AI-generated content may be incorrect." id="259" name="Google Shape;259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947248"/>
            <a:ext cx="8478765" cy="401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TRAINING AND TESTING DATA</a:t>
            </a:r>
            <a:endParaRPr/>
          </a:p>
        </p:txBody>
      </p:sp>
      <p:pic>
        <p:nvPicPr>
          <p:cNvPr descr="A red and grey rectangular sign&#10;&#10;AI-generated content may be incorrect." id="265" name="Google Shape;265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681" y="1872052"/>
            <a:ext cx="9180147" cy="4090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HYPERPARAMETER TUNING</a:t>
            </a:r>
            <a:endParaRPr/>
          </a:p>
        </p:txBody>
      </p:sp>
      <p:pic>
        <p:nvPicPr>
          <p:cNvPr descr="A screenshot of a computer&#10;&#10;AI-generated content may be incorrect." id="271" name="Google Shape;271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1797985"/>
            <a:ext cx="9212809" cy="4343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WORKFLOWS AND RECIPES</a:t>
            </a:r>
            <a:endParaRPr/>
          </a:p>
        </p:txBody>
      </p:sp>
      <p:pic>
        <p:nvPicPr>
          <p:cNvPr descr="A white background with black text&#10;&#10;AI-generated content may be incorrect." id="277" name="Google Shape;277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854" y="1908707"/>
            <a:ext cx="9463743" cy="4053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2026-02-15T02:02:11Z</dcterms:created>
  <dc:creator>Ahmed Sabit</dc:creator>
</cp:coreProperties>
</file>